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평균점수</c:v>
                </c:pt>
              </c:strCache>
            </c:strRef>
          </c:tx>
          <c:spPr>
            <a:solidFill>
              <a:srgbClr val="2F6FED"/>
            </a:solidFill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75.1</c:v>
                </c:pt>
                <c:pt idx="1">
                  <c:v>68.9</c:v>
                </c:pt>
                <c:pt idx="2">
                  <c:v>73.1</c:v>
                </c:pt>
                <c:pt idx="3">
                  <c:v>70.7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1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중앙시간</c:v>
                </c:pt>
              </c:strCache>
            </c:strRef>
          </c:tx>
          <c:spPr>
            <a:solidFill>
              <a:srgbClr val="F3B139"/>
            </a:solidFill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25.73</c:v>
                </c:pt>
                <c:pt idx="1">
                  <c:v>57.25</c:v>
                </c:pt>
                <c:pt idx="2">
                  <c:v>20.75</c:v>
                </c:pt>
                <c:pt idx="3">
                  <c:v>62.73</c:v>
                </c:pt>
              </c:numCache>
            </c:numRef>
          </c:val>
        </c:ser>
        <c:dLbls>
          <c:numFmt formatCode="0.0초" sourceLinked="0"/>
          <c:txPr>
            <a:bodyPr/>
            <a:lstStyle/>
            <a:p>
              <a:pPr>
                <a:defRPr sz="1000" b="1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1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numFmt formatCode="0.0초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맑은 고딕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75488" cy="420624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41F37"/>
                </a:solidFill>
                <a:latin typeface="맑은 고딕"/>
              </a:rPr>
              <a:t>A·B·C·D 교차검증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051560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65748B"/>
                </a:solidFill>
                <a:latin typeface="맑은 고딕"/>
              </a:rPr>
              <a:t>20개 테스트 케이스 × 4개 모델 조합 · 총 80건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417320"/>
                <a:gridCol w="1417320"/>
                <a:gridCol w="1051560"/>
                <a:gridCol w="1051560"/>
                <a:gridCol w="1234440"/>
                <a:gridCol w="1005840"/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군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모델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 모델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평균점수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중앙값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중앙시간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N/A</a:t>
                      </a:r>
                    </a:p>
                  </a:txBody>
                  <a:tcPr marL="45720" marR="45720" marT="36576" marB="36576" anchor="ctr">
                    <a:solidFill>
                      <a:srgbClr val="141F3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F6FED"/>
                          </a:solidFill>
                          <a:latin typeface="맑은 고딕"/>
                        </a:defRPr>
                      </a:pPr>
                      <a:r>
                        <a:t>A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OpenAI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Anthropic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75.1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79.0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25.73초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3B139"/>
                          </a:solidFill>
                          <a:latin typeface="맑은 고딕"/>
                        </a:defRPr>
                      </a:pPr>
                      <a:r>
                        <a:t>B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Anthropic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OpenAI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68.9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74.5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57.25초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4A6FF"/>
                          </a:solidFill>
                          <a:latin typeface="맑은 고딕"/>
                        </a:defRPr>
                      </a:pPr>
                      <a:r>
                        <a:t>C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OpenAI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OpenAI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73.1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79.5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20.75초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 anchor="ctr">
                    <a:solidFill>
                      <a:srgbClr val="EBF2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8B996"/>
                          </a:solidFill>
                          <a:latin typeface="맑은 고딕"/>
                        </a:defRPr>
                      </a:pPr>
                      <a:r>
                        <a:t>D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Anthropic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Anthropic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70.7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74.0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62.73초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A44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462272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462272"/>
            <a:ext cx="82296" cy="1234440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90288"/>
            <a:ext cx="292608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65748B"/>
                </a:solidFill>
                <a:latin typeface="맑은 고딕"/>
              </a:rPr>
              <a:t>최고 평균점수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73752"/>
            <a:ext cx="292608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1F37"/>
                </a:solidFill>
                <a:latin typeface="맑은 고딕"/>
              </a:rPr>
              <a:t>A  75.1점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62272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4462272"/>
            <a:ext cx="82296" cy="1234440"/>
          </a:xfrm>
          <a:prstGeom prst="rect">
            <a:avLst/>
          </a:prstGeom>
          <a:solidFill>
            <a:srgbClr val="28B996"/>
          </a:solidFill>
          <a:ln>
            <a:solidFill>
              <a:srgbClr val="28B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590288"/>
            <a:ext cx="292608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65748B"/>
                </a:solidFill>
                <a:latin typeface="맑은 고딕"/>
              </a:rPr>
              <a:t>가장 빠른 중앙시간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73752"/>
            <a:ext cx="292608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1F37"/>
                </a:solidFill>
                <a:latin typeface="맑은 고딕"/>
              </a:rPr>
              <a:t>C  20.75초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462272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4462272"/>
            <a:ext cx="82296" cy="1234440"/>
          </a:xfrm>
          <a:prstGeom prst="rect">
            <a:avLst/>
          </a:prstGeom>
          <a:solidFill>
            <a:srgbClr val="F3B139"/>
          </a:solidFill>
          <a:ln>
            <a:solidFill>
              <a:srgbClr val="F3B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590288"/>
            <a:ext cx="292608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65748B"/>
                </a:solidFill>
                <a:latin typeface="맑은 고딕"/>
              </a:rPr>
              <a:t>API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73752"/>
            <a:ext cx="292608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1F37"/>
                </a:solidFill>
                <a:latin typeface="맑은 고딕"/>
              </a:rPr>
              <a:t>0건 · N/A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16752"/>
            <a:ext cx="109728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65748B"/>
                </a:solidFill>
                <a:latin typeface="맑은 고딕"/>
              </a:rPr>
              <a:t>정식 점수는 TC-01~16, 데이터 없음 예외처리는 TC-17~18, 장애 재현은 TC-19~20에서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75488" cy="420624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41F37"/>
                </a:solidFill>
                <a:latin typeface="맑은 고딕"/>
              </a:rPr>
              <a:t>품질과 속도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58368"/>
            <a:ext cx="1051560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65748B"/>
                </a:solidFill>
                <a:latin typeface="맑은 고딕"/>
              </a:rPr>
              <a:t>평균점수는 TC-01~16, 수행시간은 TC-01~18 실제 실행 사례의 중앙값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61288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61288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502920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1F37"/>
                </a:solidFill>
                <a:latin typeface="맑은 고딕"/>
              </a:rPr>
              <a:t>평균 품질점수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353312"/>
            <a:ext cx="502920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1F37"/>
                </a:solidFill>
                <a:latin typeface="맑은 고딕"/>
              </a:rPr>
              <a:t>중앙 수행시간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810512"/>
          <a:ext cx="49834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83096" y="1810512"/>
          <a:ext cx="498348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5806440"/>
            <a:ext cx="5257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2F6FED"/>
                </a:solidFill>
                <a:latin typeface="맑은 고딕"/>
              </a:rPr>
              <a:t>품질: A가 75.1점으로 가장 높음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5806440"/>
            <a:ext cx="525780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F3B139"/>
                </a:solidFill>
                <a:latin typeface="맑은 고딕"/>
              </a:rPr>
              <a:t>속도: C가 20.75초로 가장 빠름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3B139"/>
          </a:solidFill>
          <a:ln>
            <a:solidFill>
              <a:srgbClr val="F3B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1206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맑은 고딕"/>
              </a:rPr>
              <a:t>의견 및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97280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B1C1DA"/>
                </a:solidFill>
                <a:latin typeface="맑은 고딕"/>
              </a:rPr>
              <a:t>이번 1회 교차검증 실행에서 확인한 선택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90472"/>
            <a:ext cx="10927080" cy="877824"/>
          </a:xfrm>
          <a:prstGeom prst="roundRect">
            <a:avLst/>
          </a:prstGeom>
          <a:solidFill>
            <a:srgbClr val="1F2F4E"/>
          </a:solidFill>
          <a:ln>
            <a:solidFill>
              <a:srgbClr val="38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7"/>
            <a:ext cx="438912" cy="438912"/>
          </a:xfrm>
          <a:prstGeom prst="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600200"/>
            <a:ext cx="13258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F6FED"/>
                </a:solidFill>
                <a:latin typeface="맑은 고딕"/>
              </a:rPr>
              <a:t>품질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56231"/>
            <a:ext cx="96926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A 조합이 평균 75.1점으로 가장 높아 최종 품질 확인에 유리했습니다.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78024"/>
            <a:ext cx="10927080" cy="877824"/>
          </a:xfrm>
          <a:prstGeom prst="roundRect">
            <a:avLst/>
          </a:prstGeom>
          <a:solidFill>
            <a:srgbClr val="1F2F4E"/>
          </a:solidFill>
          <a:ln>
            <a:solidFill>
              <a:srgbClr val="38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38912" cy="438912"/>
          </a:xfrm>
          <a:prstGeom prst="rect">
            <a:avLst/>
          </a:prstGeom>
          <a:solidFill>
            <a:srgbClr val="28B996"/>
          </a:solidFill>
          <a:ln>
            <a:solidFill>
              <a:srgbClr val="28B996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87752"/>
            <a:ext cx="13258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8B996"/>
                </a:solidFill>
                <a:latin typeface="맑은 고딕"/>
              </a:rPr>
              <a:t>속도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843784"/>
            <a:ext cx="96926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C 조합은 중앙 20.75초로 가장 빨라 반복 점검에 적합했습니다.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65576"/>
            <a:ext cx="10927080" cy="877824"/>
          </a:xfrm>
          <a:prstGeom prst="roundRect">
            <a:avLst/>
          </a:prstGeom>
          <a:solidFill>
            <a:srgbClr val="1F2F4E"/>
          </a:solidFill>
          <a:ln>
            <a:solidFill>
              <a:srgbClr val="38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39312"/>
            <a:ext cx="438912" cy="438912"/>
          </a:xfrm>
          <a:prstGeom prst="rect">
            <a:avLst/>
          </a:prstGeom>
          <a:solidFill>
            <a:srgbClr val="F3B139"/>
          </a:solidFill>
          <a:ln>
            <a:solidFill>
              <a:srgbClr val="F3B139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575304"/>
            <a:ext cx="13258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3B139"/>
                </a:solidFill>
                <a:latin typeface="맑은 고딕"/>
              </a:rPr>
              <a:t>해석 주의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831336"/>
            <a:ext cx="96926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모호한 질문과 제한된 VOC 근거에서는 점수 편차가 커 모델 성능만으로 결과를 설명하기 어렵습니다.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53128"/>
            <a:ext cx="10927080" cy="877824"/>
          </a:xfrm>
          <a:prstGeom prst="roundRect">
            <a:avLst/>
          </a:prstGeom>
          <a:solidFill>
            <a:srgbClr val="1F2F4E"/>
          </a:solidFill>
          <a:ln>
            <a:solidFill>
              <a:srgbClr val="38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26864"/>
            <a:ext cx="438912" cy="438912"/>
          </a:xfrm>
          <a:prstGeom prst="rect">
            <a:avLst/>
          </a:prstGeom>
          <a:solidFill>
            <a:srgbClr val="54A6FF"/>
          </a:solidFill>
          <a:ln>
            <a:solidFill>
              <a:srgbClr val="54A6FF"/>
            </a:solidFill>
          </a:ln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562856"/>
            <a:ext cx="13258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54A6FF"/>
                </a:solidFill>
                <a:latin typeface="맑은 고딕"/>
              </a:rPr>
              <a:t>활용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818888"/>
            <a:ext cx="96926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빠른 반복 검증은 C, 서로 다른 모델의 교차 확인이 필요한 최종 검증은 A를 우선 활용하는 구성이 적절합니다.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50992"/>
            <a:ext cx="10927080" cy="658368"/>
          </a:xfrm>
          <a:prstGeom prst="roundRect">
            <a:avLst/>
          </a:prstGeom>
          <a:solidFill>
            <a:srgbClr val="F5B741"/>
          </a:solidFill>
          <a:ln>
            <a:solidFill>
              <a:srgbClr val="F3B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1046988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1F37"/>
                </a:solidFill>
                <a:latin typeface="맑은 고딕"/>
              </a:rPr>
              <a:t>결론  |  특정 모델의 절대 우위보다 목적에 맞는 조합 선택과 반복 교차검증이 중요합니다.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10881360" cy="1828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9ACCA"/>
                </a:solidFill>
                <a:latin typeface="맑은 고딕"/>
              </a:rPr>
              <a:t>※ 2026-07-16 실행 결과 · API 실패 N/A 0건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